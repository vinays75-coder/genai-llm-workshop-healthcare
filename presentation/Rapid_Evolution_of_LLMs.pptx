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8"/>
  </p:notesMasterIdLst>
  <p:sldIdLst>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523"/>
    <p:restoredTop sz="94610"/>
  </p:normalViewPr>
  <p:slideViewPr>
    <p:cSldViewPr snapToGrid="0" snapToObjects="1">
      <p:cViewPr varScale="1">
        <p:scale>
          <a:sx n="126" d="100"/>
          <a:sy n="126" d="100"/>
        </p:scale>
        <p:origin x="23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8" Type="http://schemas.openxmlformats.org/officeDocument/2006/relationships/slide" Target="slides/slide7.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40467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60–90 seconds.</a:t>
            </a:r>
          </a:p>
          <a:p/>
          <a:p>
            <a:r>
              <a:t>In 2022, many people first experienced AI through a conversation. In 2023, more capable models and more choices appeared. During 2024, working with images, audio, and longer context became more prominent. The notebook highlights improved reasoning and tool use in 2025, and assistants that combine these abilities in 2026.</a:t>
            </a:r>
          </a:p>
          <a:p/>
          <a:p>
            <a:r>
              <a:t>The important change is from asking for text to getting help with a task. These are broad trends, not exact invention dates or capabilities available in every product. In healthcare, greater capability does not remove the need for approved tools and human review.</a:t>
            </a:r>
          </a:p>
          <a:p/>
          <a:p>
            <a:r>
              <a:t>Source: genai_llm_workshop_healthcare_shareable.ipynb, “The Rapid Evolution of LLMs — 2022 to Today.” Layout and styling retained from slide 7 of the supplied Everyday_AI_for_Health_IT.pptx.</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6.png"/><Relationship Id="rId4" Type="http://schemas.openxmlformats.org/officeDocument/2006/relationships/image" Target="../media/image17.png"/></Relationships>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292608"/>
          </a:xfrm>
          <a:prstGeom prst="rect">
            <a:avLst/>
          </a:prstGeom>
          <a:noFill/>
          <a:ln/>
        </p:spPr>
        <p:txBody>
          <a:bodyPr wrap="square" lIns="0" tIns="0" rIns="0" bIns="0" rtlCol="0" anchor="ctr"/>
          <a:lstStyle/>
          <a:p>
            <a:pPr marL="0" indent="0" algn="l">
              <a:spcAft>
                <a:spcPts val="0"/>
              </a:spcAft>
              <a:buNone/>
            </a:pPr>
            <a:endParaRPr lang="en-US" sz="1250" dirty="0"/>
            <a:r>
              <a:rPr lang="en-US" sz="1250" b="1" kern="0" spc="200" dirty="0">
                <a:solidFill>
                  <a:srgbClr val="1C7293"/>
                </a:solidFill>
                <a:latin typeface="Arial" pitchFamily="34" charset="0"/>
                <a:ea typeface="Arial" pitchFamily="34" charset="-122"/>
                <a:cs typeface="Arial" pitchFamily="34" charset="-120"/>
              </a:rPr>
              <a:t>THE BIGGER PICTURE · A SIMPLIFIED TIMELINE</a:t>
            </a:r>
          </a:p>
        </p:txBody>
      </p:sp>
      <p:sp>
        <p:nvSpPr>
          <p:cNvPr id="3" name="Text 1"/>
          <p:cNvSpPr/>
          <p:nvPr/>
        </p:nvSpPr>
        <p:spPr>
          <a:xfrm>
            <a:off x="548640" y="621792"/>
            <a:ext cx="10789920" cy="777240"/>
          </a:xfrm>
          <a:prstGeom prst="rect">
            <a:avLst/>
          </a:prstGeom>
          <a:noFill/>
          <a:ln/>
        </p:spPr>
        <p:txBody>
          <a:bodyPr wrap="square" lIns="0" tIns="0" rIns="0" bIns="0" rtlCol="0" anchor="t"/>
          <a:lstStyle/>
          <a:p>
            <a:pPr marL="0" indent="0" algn="l">
              <a:spcAft>
                <a:spcPts val="0"/>
              </a:spcAft>
              <a:buNone/>
            </a:pPr>
            <a:endParaRPr lang="en-US" sz="2900" dirty="0"/>
            <a:r>
              <a:rPr lang="en-US" sz="2900" b="1" dirty="0">
                <a:solidFill>
                  <a:srgbClr val="16324A"/>
                </a:solidFill>
                <a:latin typeface="Arial" pitchFamily="34" charset="0"/>
                <a:ea typeface="Arial" pitchFamily="34" charset="-122"/>
                <a:cs typeface="Arial" pitchFamily="34" charset="-120"/>
              </a:rPr>
              <a:t>The rapid evolution of LLMs</a:t>
            </a:r>
          </a:p>
        </p:txBody>
      </p:sp>
      <p:sp>
        <p:nvSpPr>
          <p:cNvPr id="4" name="Shape 2"/>
          <p:cNvSpPr/>
          <p:nvPr/>
        </p:nvSpPr>
        <p:spPr>
          <a:xfrm>
            <a:off x="548640" y="1691640"/>
            <a:ext cx="5349240" cy="2834640"/>
          </a:xfrm>
          <a:prstGeom prst="roundRect">
            <a:avLst>
              <a:gd name="adj" fmla="val 3226"/>
            </a:avLst>
          </a:prstGeom>
          <a:solidFill>
            <a:srgbClr val="FFFFFF"/>
          </a:solidFill>
          <a:ln w="12700">
            <a:solidFill>
              <a:srgbClr val="DCE6ED"/>
            </a:solidFill>
            <a:prstDash val="solid"/>
          </a:ln>
        </p:spPr>
      </p:sp>
      <p:sp>
        <p:nvSpPr>
          <p:cNvPr id="5" name="Shape 3"/>
          <p:cNvSpPr/>
          <p:nvPr/>
        </p:nvSpPr>
        <p:spPr>
          <a:xfrm>
            <a:off x="868680" y="1965960"/>
            <a:ext cx="658368" cy="658368"/>
          </a:xfrm>
          <a:prstGeom prst="ellipse">
            <a:avLst/>
          </a:prstGeom>
          <a:solidFill>
            <a:srgbClr val="1C7293"/>
          </a:solidFill>
          <a:ln/>
        </p:spPr>
      </p:sp>
      <p:sp>
        <p:nvSpPr>
          <p:cNvPr id="7" name="Text 4"/>
          <p:cNvSpPr/>
          <p:nvPr/>
        </p:nvSpPr>
        <p:spPr>
          <a:xfrm>
            <a:off x="1691640" y="2011680"/>
            <a:ext cx="4023360" cy="548640"/>
          </a:xfrm>
          <a:prstGeom prst="rect">
            <a:avLst/>
          </a:prstGeom>
          <a:noFill/>
          <a:ln/>
        </p:spPr>
        <p:txBody>
          <a:bodyPr wrap="square" lIns="0" tIns="0" rIns="0" bIns="0" rtlCol="0" anchor="ctr"/>
          <a:lstStyle/>
          <a:p>
            <a:pPr marL="0" indent="0">
              <a:spcAft>
                <a:spcPts val="0"/>
              </a:spcAft>
              <a:buNone/>
            </a:pPr>
            <a:endParaRPr lang="en-US" sz="1800" dirty="0"/>
            <a:r>
              <a:rPr lang="en-US" sz="1800" b="1" dirty="0">
                <a:solidFill>
                  <a:srgbClr val="16324A"/>
                </a:solidFill>
                <a:latin typeface="Arial" pitchFamily="34" charset="0"/>
                <a:ea typeface="Arial" pitchFamily="34" charset="-122"/>
                <a:cs typeface="Arial" pitchFamily="34" charset="-120"/>
              </a:rPr>
              <a:t>2022–2023 · Chat goes mainstream</a:t>
            </a:r>
          </a:p>
        </p:txBody>
      </p:sp>
      <p:sp>
        <p:nvSpPr>
          <p:cNvPr id="8" name="Text 5"/>
          <p:cNvSpPr/>
          <p:nvPr/>
        </p:nvSpPr>
        <p:spPr>
          <a:xfrm>
            <a:off x="868680" y="2788920"/>
            <a:ext cx="4709160" cy="1554480"/>
          </a:xfrm>
          <a:prstGeom prst="rect">
            <a:avLst/>
          </a:prstGeom>
          <a:noFill/>
          <a:ln/>
        </p:spPr>
        <p:txBody>
          <a:bodyPr wrap="square" lIns="0" tIns="0" rIns="0" bIns="0" rtlCol="0" anchor="ctr"/>
          <a:lstStyle/>
          <a:p>
            <a:pPr marL="0" indent="0">
              <a:lnSpc>
                <a:spcPct val="125000"/>
              </a:lnSpc>
              <a:spcAft>
                <a:spcPts val="1000"/>
              </a:spcAft>
              <a:buNone/>
            </a:pPr>
            <a:endParaRPr lang="en-US" sz="1400" dirty="0"/>
            <a:r>
              <a:rPr lang="en-US" sz="1400" dirty="0">
                <a:solidFill>
                  <a:srgbClr val="5A7385"/>
                </a:solidFill>
                <a:latin typeface="Arial" pitchFamily="34" charset="0"/>
                <a:ea typeface="Arial" pitchFamily="34" charset="-122"/>
                <a:cs typeface="Arial" pitchFamily="34" charset="-120"/>
              </a:rPr>
              <a:t>2022 · ChatGPT brings everyday-language conversations to a broad public audience.</a:t>
            </a:r>
          </a:p>
          <a:p>
            <a:pPr marL="0" indent="0">
              <a:lnSpc>
                <a:spcPct val="125000"/>
              </a:lnSpc>
              <a:spcAft>
                <a:spcPts val="1000"/>
              </a:spcAft>
              <a:buNone/>
            </a:pPr>
            <a:r>
              <a:rPr lang="en-US" sz="1400" dirty="0">
                <a:solidFill>
                  <a:srgbClr val="5A7385"/>
                </a:solidFill>
                <a:latin typeface="Arial" pitchFamily="34" charset="0"/>
                <a:ea typeface="Arial" pitchFamily="34" charset="-122"/>
                <a:cs typeface="Arial" pitchFamily="34" charset="-120"/>
              </a:rPr>
              <a:t>2023 · Stronger models and more choices expand writing, coding, and instruction following.</a:t>
            </a:r>
          </a:p>
        </p:txBody>
      </p:sp>
      <p:sp>
        <p:nvSpPr>
          <p:cNvPr id="9" name="Shape 6"/>
          <p:cNvSpPr/>
          <p:nvPr/>
        </p:nvSpPr>
        <p:spPr>
          <a:xfrm>
            <a:off x="6172200" y="1691640"/>
            <a:ext cx="5349240" cy="2834640"/>
          </a:xfrm>
          <a:prstGeom prst="roundRect">
            <a:avLst>
              <a:gd name="adj" fmla="val 3226"/>
            </a:avLst>
          </a:prstGeom>
          <a:solidFill>
            <a:srgbClr val="FFFFFF"/>
          </a:solidFill>
          <a:ln w="12700">
            <a:solidFill>
              <a:srgbClr val="DCE6ED"/>
            </a:solidFill>
            <a:prstDash val="solid"/>
          </a:ln>
        </p:spPr>
      </p:sp>
      <p:sp>
        <p:nvSpPr>
          <p:cNvPr id="10" name="Shape 7"/>
          <p:cNvSpPr/>
          <p:nvPr/>
        </p:nvSpPr>
        <p:spPr>
          <a:xfrm>
            <a:off x="6492240" y="1965960"/>
            <a:ext cx="658368" cy="658368"/>
          </a:xfrm>
          <a:prstGeom prst="ellipse">
            <a:avLst/>
          </a:prstGeom>
          <a:solidFill>
            <a:srgbClr val="C9820A"/>
          </a:solidFill>
          <a:ln/>
        </p:spPr>
      </p:sp>
      <p:sp>
        <p:nvSpPr>
          <p:cNvPr id="12" name="Text 8"/>
          <p:cNvSpPr/>
          <p:nvPr/>
        </p:nvSpPr>
        <p:spPr>
          <a:xfrm>
            <a:off x="7315200" y="2011680"/>
            <a:ext cx="4023360" cy="548640"/>
          </a:xfrm>
          <a:prstGeom prst="rect">
            <a:avLst/>
          </a:prstGeom>
          <a:noFill/>
          <a:ln/>
        </p:spPr>
        <p:txBody>
          <a:bodyPr wrap="square" lIns="0" tIns="0" rIns="0" bIns="0" rtlCol="0" anchor="ctr"/>
          <a:lstStyle/>
          <a:p>
            <a:pPr marL="0" indent="0">
              <a:spcAft>
                <a:spcPts val="0"/>
              </a:spcAft>
              <a:buNone/>
            </a:pPr>
            <a:endParaRPr lang="en-US" sz="1800" dirty="0"/>
            <a:r>
              <a:rPr lang="en-US" sz="1800" b="1" dirty="0">
                <a:solidFill>
                  <a:srgbClr val="16324A"/>
                </a:solidFill>
                <a:latin typeface="Arial" pitchFamily="34" charset="0"/>
                <a:ea typeface="Arial" pitchFamily="34" charset="-122"/>
                <a:cs typeface="Arial" pitchFamily="34" charset="-120"/>
              </a:rPr>
              <a:t>2024–2026 · Beyond the chatbot</a:t>
            </a:r>
          </a:p>
        </p:txBody>
      </p:sp>
      <p:sp>
        <p:nvSpPr>
          <p:cNvPr id="13" name="Text 9"/>
          <p:cNvSpPr/>
          <p:nvPr/>
        </p:nvSpPr>
        <p:spPr>
          <a:xfrm>
            <a:off x="6492240" y="2788920"/>
            <a:ext cx="4709160" cy="1554480"/>
          </a:xfrm>
          <a:prstGeom prst="rect">
            <a:avLst/>
          </a:prstGeom>
          <a:noFill/>
          <a:ln/>
        </p:spPr>
        <p:txBody>
          <a:bodyPr wrap="square" lIns="0" tIns="0" rIns="0" bIns="0" rtlCol="0" anchor="ctr"/>
          <a:lstStyle/>
          <a:p>
            <a:pPr marL="0" indent="0">
              <a:lnSpc>
                <a:spcPct val="125000"/>
              </a:lnSpc>
              <a:spcAft>
                <a:spcPts val="1000"/>
              </a:spcAft>
              <a:buNone/>
            </a:pPr>
            <a:endParaRPr lang="en-US" sz="1400" dirty="0"/>
            <a:r>
              <a:rPr lang="en-US" sz="1400" dirty="0">
                <a:solidFill>
                  <a:srgbClr val="5A7385"/>
                </a:solidFill>
                <a:latin typeface="Arial" pitchFamily="34" charset="0"/>
                <a:ea typeface="Arial" pitchFamily="34" charset="-122"/>
                <a:cs typeface="Arial" pitchFamily="34" charset="-120"/>
              </a:rPr>
              <a:t>2024 · Text, images, audio, and longer context.</a:t>
            </a:r>
          </a:p>
          <a:p>
            <a:pPr marL="0" indent="0">
              <a:lnSpc>
                <a:spcPct val="125000"/>
              </a:lnSpc>
              <a:spcAft>
                <a:spcPts val="1000"/>
              </a:spcAft>
              <a:buNone/>
            </a:pPr>
            <a:r>
              <a:rPr lang="en-US" sz="1400" dirty="0">
                <a:solidFill>
                  <a:srgbClr val="5A7385"/>
                </a:solidFill>
                <a:latin typeface="Arial" pitchFamily="34" charset="0"/>
                <a:ea typeface="Arial" pitchFamily="34" charset="-122"/>
                <a:cs typeface="Arial" pitchFamily="34" charset="-120"/>
              </a:rPr>
              <a:t>2025 · Better reasoning and use of search, code, and tools.</a:t>
            </a:r>
          </a:p>
          <a:p>
            <a:pPr marL="0" indent="0">
              <a:lnSpc>
                <a:spcPct val="125000"/>
              </a:lnSpc>
              <a:spcAft>
                <a:spcPts val="1000"/>
              </a:spcAft>
              <a:buNone/>
            </a:pPr>
            <a:r>
              <a:rPr lang="en-US" sz="1400" dirty="0">
                <a:solidFill>
                  <a:srgbClr val="5A7385"/>
                </a:solidFill>
                <a:latin typeface="Arial" pitchFamily="34" charset="0"/>
                <a:ea typeface="Arial" pitchFamily="34" charset="-122"/>
                <a:cs typeface="Arial" pitchFamily="34" charset="-120"/>
              </a:rPr>
              <a:t>2026 · Assistants combine retrieval and controlled tool use.</a:t>
            </a:r>
          </a:p>
        </p:txBody>
      </p:sp>
      <p:sp>
        <p:nvSpPr>
          <p:cNvPr id="14" name="Shape 10"/>
          <p:cNvSpPr/>
          <p:nvPr/>
        </p:nvSpPr>
        <p:spPr>
          <a:xfrm>
            <a:off x="548640" y="4754880"/>
            <a:ext cx="10424160" cy="1371600"/>
          </a:xfrm>
          <a:prstGeom prst="roundRect">
            <a:avLst>
              <a:gd name="adj" fmla="val 6667"/>
            </a:avLst>
          </a:prstGeom>
          <a:solidFill>
            <a:srgbClr val="0F2942"/>
          </a:solidFill>
          <a:ln/>
        </p:spPr>
      </p:sp>
      <p:sp>
        <p:nvSpPr>
          <p:cNvPr id="15" name="Text 11"/>
          <p:cNvSpPr/>
          <p:nvPr/>
        </p:nvSpPr>
        <p:spPr>
          <a:xfrm>
            <a:off x="868680" y="4956048"/>
            <a:ext cx="9784080" cy="1005840"/>
          </a:xfrm>
          <a:prstGeom prst="rect">
            <a:avLst/>
          </a:prstGeom>
          <a:noFill/>
          <a:ln/>
        </p:spPr>
        <p:txBody>
          <a:bodyPr wrap="square" lIns="0" tIns="0" rIns="0" bIns="0" rtlCol="0" anchor="t"/>
          <a:lstStyle/>
          <a:p>
            <a:pPr marL="0" indent="0">
              <a:lnSpc>
                <a:spcPct val="125000"/>
              </a:lnSpc>
              <a:buNone/>
            </a:pPr>
            <a:r>
              <a:rPr lang="en-US" sz="1450" b="1" dirty="0">
                <a:solidFill>
                  <a:srgbClr val="FFFFFF"/>
                </a:solidFill>
                <a:latin typeface="Arial" pitchFamily="34" charset="0"/>
                <a:ea typeface="Arial" pitchFamily="34" charset="-122"/>
                <a:cs typeface="Arial" pitchFamily="34" charset="-120"/>
              </a:rPr>
              <a:t>From answering questions to helping with tasks. </a:t>
            </a:r>
            <a:r>
              <a:rPr lang="en-US" sz="1450" dirty="0">
                <a:solidFill>
                  <a:srgbClr val="D7E6EF"/>
                </a:solidFill>
                <a:latin typeface="Arial" pitchFamily="34" charset="0"/>
                <a:ea typeface="Arial" pitchFamily="34" charset="-122"/>
                <a:cs typeface="Arial" pitchFamily="34" charset="-120"/>
              </a:rPr>
              <a:t>LLMs now support richer media and tool-connected workflows. In healthcare, stronger capabilities still require source checks, privacy safeguards, and human review.</a:t>
            </a:r>
            <a:endParaRPr lang="en-US" sz="1450" dirty="0"/>
          </a:p>
        </p:txBody>
      </p:sp>
      <p:sp>
        <p:nvSpPr>
          <p:cNvPr id="16" name="Text 12"/>
          <p:cNvSpPr/>
          <p:nvPr/>
        </p:nvSpPr>
        <p:spPr>
          <a:xfrm>
            <a:off x="548640" y="6547104"/>
            <a:ext cx="7315200" cy="237744"/>
          </a:xfrm>
          <a:prstGeom prst="rect">
            <a:avLst/>
          </a:prstGeom>
          <a:noFill/>
          <a:ln/>
        </p:spPr>
        <p:txBody>
          <a:bodyPr wrap="square" lIns="0" tIns="0" rIns="0" bIns="0" rtlCol="0" anchor="ctr"/>
          <a:lstStyle/>
          <a:p>
            <a:pPr marL="0" indent="0" algn="l">
              <a:spcAft>
                <a:spcPts val="0"/>
              </a:spcAft>
              <a:buNone/>
            </a:pPr>
            <a:endParaRPr lang="en-US" sz="950" dirty="0"/>
            <a:r>
              <a:rPr lang="en-US" sz="950" dirty="0">
                <a:solidFill>
                  <a:srgbClr val="5A7385"/>
                </a:solidFill>
                <a:latin typeface="Arial" pitchFamily="34" charset="0"/>
                <a:ea typeface="Arial" pitchFamily="34" charset="-122"/>
                <a:cs typeface="Arial" pitchFamily="34" charset="-120"/>
              </a:rPr>
              <a:t>Act 1 · Meet the Engine | Simplified 2022–2026 overview</a:t>
            </a:r>
          </a:p>
        </p:txBody>
      </p:sp>
      <p:sp>
        <p:nvSpPr>
          <p:cNvPr id="17" name="Text 13"/>
          <p:cNvSpPr/>
          <p:nvPr/>
        </p:nvSpPr>
        <p:spPr>
          <a:xfrm>
            <a:off x="11094415" y="6547104"/>
            <a:ext cx="548640" cy="237744"/>
          </a:xfrm>
          <a:prstGeom prst="rect">
            <a:avLst/>
          </a:prstGeom>
          <a:noFill/>
          <a:ln/>
        </p:spPr>
        <p:txBody>
          <a:bodyPr wrap="square" lIns="0" tIns="0" rIns="0" bIns="0" rtlCol="0" anchor="ctr"/>
          <a:lstStyle/>
          <a:p>
            <a:pPr marL="0" indent="0" algn="r">
              <a:spcAft>
                <a:spcPts val="0"/>
              </a:spcAft>
              <a:buNone/>
            </a:pPr>
            <a:endParaRPr lang="en-US" sz="950" dirty="0"/>
            <a:r>
              <a:rPr lang="en-US" sz="950" dirty="0">
                <a:solidFill>
                  <a:srgbClr val="5A7385"/>
                </a:solidFill>
                <a:latin typeface="Arial" pitchFamily="34" charset="0"/>
                <a:ea typeface="Arial" pitchFamily="34" charset="-122"/>
                <a:cs typeface="Arial" pitchFamily="34" charset="-120"/>
              </a:rPr>
              <a:t>1</a:t>
            </a:r>
          </a:p>
        </p:txBody>
      </p:sp>
      <p:sp>
        <p:nvSpPr>
          <p:cNvPr id="18" name="Rounded Rectangle 17"/>
          <p:cNvSpPr/>
          <p:nvPr/>
        </p:nvSpPr>
        <p:spPr>
          <a:xfrm>
            <a:off x="982980" y="2125980"/>
            <a:ext cx="429768" cy="292608"/>
          </a:xfrm>
          <a:prstGeom prst="roundRect">
            <a:avLst/>
          </a:prstGeom>
          <a:noFill/>
          <a:ln w="203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rot="10800000">
            <a:off x="1042415" y="2372868"/>
            <a:ext cx="91440" cy="109728"/>
          </a:xfrm>
          <a:prstGeom prst="triangl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92824" y="2221992"/>
            <a:ext cx="137160" cy="13716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839712" y="2084831"/>
            <a:ext cx="137160" cy="13716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839712" y="2377440"/>
            <a:ext cx="137160" cy="13716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V="1">
            <a:off x="6729984" y="2153412"/>
            <a:ext cx="109728" cy="137160"/>
          </a:xfrm>
          <a:prstGeom prst="line">
            <a:avLst/>
          </a:prstGeom>
          <a:ln w="1905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6729984" y="2290572"/>
            <a:ext cx="109728" cy="155448"/>
          </a:xfrm>
          <a:prstGeom prst="line">
            <a:avLst/>
          </a:prstGeom>
          <a:ln w="19050">
            <a:solidFill>
              <a:srgbClr val="FFFFFF"/>
            </a:solidFill>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TotalTime>
  <Words>5795</Words>
  <Application>Microsoft Macintosh PowerPoint</Application>
  <PresentationFormat>Widescreen</PresentationFormat>
  <Paragraphs>575</Paragraphs>
  <Slides>46</Slides>
  <Notes>46</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46</vt:i4>
      </vt:variant>
    </vt:vector>
  </HeadingPairs>
  <TitlesOfParts>
    <vt:vector size="48"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Workshop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Rapid Evolution of LLMs</dc:title>
  <dc:subject>PptxGenJS Presentation</dc:subject>
  <dc:creator>Everyday AI for Health IT</dc:creator>
  <cp:lastModifiedBy>Vinay Sharma</cp:lastModifiedBy>
  <cp:revision>2</cp:revision>
  <dcterms:created xsi:type="dcterms:W3CDTF">2026-09-10T04:53:31Z</dcterms:created>
  <dcterms:modified xsi:type="dcterms:W3CDTF">2026-09-10T06:24:21Z</dcterms:modified>
</cp:coreProperties>
</file>